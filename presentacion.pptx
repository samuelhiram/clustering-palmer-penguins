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77" d="100"/>
          <a:sy n="77" d="100"/>
        </p:scale>
        <p:origin x="1854" y="480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5/28/2026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5/28/2026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5/28/2026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548640" y="2194560"/>
            <a:ext cx="10972800" cy="769441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400" b="1" dirty="0">
                <a:latin typeface="Calibri"/>
              </a:rPr>
              <a:t>Clustering de Palmer Penguins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200400"/>
            <a:ext cx="10972800" cy="178510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200" b="0" dirty="0" err="1">
                <a:latin typeface="Calibri"/>
              </a:rPr>
              <a:t>Comparación</a:t>
            </a:r>
            <a:r>
              <a:rPr sz="2200" b="0" dirty="0">
                <a:latin typeface="Calibri"/>
              </a:rPr>
              <a:t> de K-Means, DBSCAN y Agglomerative Clustering</a:t>
            </a:r>
            <a:endParaRPr lang="en-US" sz="2200" b="0" dirty="0">
              <a:latin typeface="Calibri"/>
            </a:endParaRPr>
          </a:p>
          <a:p>
            <a:pPr algn="l"/>
            <a:endParaRPr lang="en-US" sz="2200" dirty="0">
              <a:latin typeface="Calibri"/>
            </a:endParaRPr>
          </a:p>
          <a:p>
            <a:pPr algn="l"/>
            <a:r>
              <a:rPr lang="en-US" sz="2200" dirty="0">
                <a:latin typeface="Calibri"/>
              </a:rPr>
              <a:t>MINERIA DE DATOS – SAMUEL HIRAM CASTRO MARTINEZ</a:t>
            </a:r>
          </a:p>
          <a:p>
            <a:pPr algn="l"/>
            <a:endParaRPr lang="en-US" sz="2200" b="0" dirty="0">
              <a:latin typeface="Calibri"/>
            </a:endParaRPr>
          </a:p>
          <a:p>
            <a:pPr algn="l"/>
            <a:r>
              <a:rPr lang="en-US" sz="2200" b="0" dirty="0">
                <a:latin typeface="Calibri"/>
              </a:rPr>
              <a:t>Dr.</a:t>
            </a:r>
            <a:r>
              <a:rPr lang="en-US" sz="2200" dirty="0">
                <a:latin typeface="Calibri"/>
              </a:rPr>
              <a:t> Mario Garcia Estrada</a:t>
            </a:r>
            <a:endParaRPr lang="en-US" sz="2200" b="0" dirty="0">
              <a:latin typeface="Calibri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48640" y="5029200"/>
            <a:ext cx="10972800" cy="3693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0">
                <a:latin typeface="Calibri"/>
              </a:rPr>
              <a:t>Proyecto de Minería de Datos — 26 de mayo de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486400"/>
            <a:ext cx="10972800" cy="307777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400" b="0">
                <a:latin typeface="Calibri"/>
              </a:rPr>
              <a:t>Práctica de Ciencia 2.0 · datos abiertos · código reproducible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91D992CE-7F89-A6E2-3B0D-2FBFC60EB99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486996"/>
            <a:ext cx="6775850" cy="1332512"/>
          </a:xfrm>
          <a:prstGeom prst="rect">
            <a:avLst/>
          </a:prstGeom>
        </p:spPr>
      </p:pic>
      <p:pic>
        <p:nvPicPr>
          <p:cNvPr id="11" name="Picture 10" descr="MAESTRIA EN CIENCIAS DE LA COMPUTACION_HEADING">
            <a:extLst>
              <a:ext uri="{FF2B5EF4-FFF2-40B4-BE49-F238E27FC236}">
                <a16:creationId xmlns:a16="http://schemas.microsoft.com/office/drawing/2014/main" id="{2D6CC91A-5FFD-D260-F229-CBB1EB9D61C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44942" y="5398532"/>
            <a:ext cx="2998418" cy="983856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0B2E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45720"/>
            <a:ext cx="114300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Calibri"/>
              </a:rPr>
              <a:t>1. Problema y objetivo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914400"/>
            <a:ext cx="114300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200" b="1">
                <a:solidFill>
                  <a:srgbClr val="1F77B4"/>
                </a:solidFill>
                <a:latin typeface="Calibri"/>
              </a:rPr>
              <a:t>Problema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417320"/>
            <a:ext cx="11430000" cy="11887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0">
                <a:solidFill>
                  <a:srgbClr val="222222"/>
                </a:solidFill>
                <a:latin typeface="Calibri"/>
              </a:rPr>
              <a:t>¿Se pueden descubrir automáticamente los grupos naturales de pingüinos (especies) a partir únicamente de sus características físicas, sin usar la etiqueta de especie durante el entrenamiento?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80847" y="2286000"/>
            <a:ext cx="114300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200" b="1" dirty="0" err="1">
                <a:solidFill>
                  <a:srgbClr val="1F77B4"/>
                </a:solidFill>
                <a:latin typeface="Calibri"/>
              </a:rPr>
              <a:t>Objetivo</a:t>
            </a:r>
            <a:endParaRPr sz="2200" b="1" dirty="0">
              <a:solidFill>
                <a:srgbClr val="1F77B4"/>
              </a:solidFill>
              <a:latin typeface="Calibri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48639" y="2784596"/>
            <a:ext cx="11085641" cy="10772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dirty="0">
                <a:solidFill>
                  <a:srgbClr val="222222"/>
                </a:solidFill>
                <a:latin typeface="Calibri"/>
              </a:rPr>
              <a:t>• </a:t>
            </a:r>
            <a:r>
              <a:rPr sz="1800" dirty="0" err="1">
                <a:solidFill>
                  <a:srgbClr val="222222"/>
                </a:solidFill>
                <a:latin typeface="Calibri"/>
              </a:rPr>
              <a:t>Comparar</a:t>
            </a:r>
            <a:r>
              <a:rPr sz="1800" dirty="0">
                <a:solidFill>
                  <a:srgbClr val="222222"/>
                </a:solidFill>
                <a:latin typeface="Calibri"/>
              </a:rPr>
              <a:t> 3 </a:t>
            </a:r>
            <a:r>
              <a:rPr sz="1800" dirty="0" err="1">
                <a:solidFill>
                  <a:srgbClr val="222222"/>
                </a:solidFill>
                <a:latin typeface="Calibri"/>
              </a:rPr>
              <a:t>algoritmos</a:t>
            </a:r>
            <a:r>
              <a:rPr sz="1800" dirty="0">
                <a:solidFill>
                  <a:srgbClr val="222222"/>
                </a:solidFill>
                <a:latin typeface="Calibri"/>
              </a:rPr>
              <a:t> de clustering no </a:t>
            </a:r>
            <a:r>
              <a:rPr sz="1800" dirty="0" err="1">
                <a:solidFill>
                  <a:srgbClr val="222222"/>
                </a:solidFill>
                <a:latin typeface="Calibri"/>
              </a:rPr>
              <a:t>supervisado</a:t>
            </a:r>
            <a:r>
              <a:rPr sz="1800" dirty="0">
                <a:solidFill>
                  <a:srgbClr val="222222"/>
                </a:solidFill>
                <a:latin typeface="Calibri"/>
              </a:rPr>
              <a:t>: K-Means, DBSCAN y Agglomerative.</a:t>
            </a:r>
          </a:p>
          <a:p>
            <a:pPr algn="l">
              <a:spcAft>
                <a:spcPts val="600"/>
              </a:spcAft>
            </a:pPr>
            <a:r>
              <a:rPr sz="1800" dirty="0">
                <a:solidFill>
                  <a:srgbClr val="222222"/>
                </a:solidFill>
                <a:latin typeface="Calibri"/>
              </a:rPr>
              <a:t>• </a:t>
            </a:r>
            <a:r>
              <a:rPr sz="1800" dirty="0" err="1">
                <a:solidFill>
                  <a:srgbClr val="222222"/>
                </a:solidFill>
                <a:latin typeface="Calibri"/>
              </a:rPr>
              <a:t>Evaluar</a:t>
            </a:r>
            <a:r>
              <a:rPr sz="1800" dirty="0">
                <a:solidFill>
                  <a:srgbClr val="222222"/>
                </a:solidFill>
                <a:latin typeface="Calibri"/>
              </a:rPr>
              <a:t> con </a:t>
            </a:r>
            <a:r>
              <a:rPr sz="1800" dirty="0" err="1">
                <a:solidFill>
                  <a:srgbClr val="222222"/>
                </a:solidFill>
                <a:latin typeface="Calibri"/>
              </a:rPr>
              <a:t>métricas</a:t>
            </a:r>
            <a:r>
              <a:rPr sz="1800" dirty="0">
                <a:solidFill>
                  <a:srgbClr val="222222"/>
                </a:solidFill>
                <a:latin typeface="Calibri"/>
              </a:rPr>
              <a:t> interna (Silhouette) y externa (Adjusted Rand Index vs. </a:t>
            </a:r>
            <a:r>
              <a:rPr sz="1800" dirty="0" err="1">
                <a:solidFill>
                  <a:srgbClr val="222222"/>
                </a:solidFill>
                <a:latin typeface="Calibri"/>
              </a:rPr>
              <a:t>especie</a:t>
            </a:r>
            <a:r>
              <a:rPr sz="1800" dirty="0">
                <a:solidFill>
                  <a:srgbClr val="222222"/>
                </a:solidFill>
                <a:latin typeface="Calibri"/>
              </a:rPr>
              <a:t>).</a:t>
            </a:r>
          </a:p>
          <a:p>
            <a:pPr algn="l">
              <a:spcAft>
                <a:spcPts val="600"/>
              </a:spcAft>
            </a:pPr>
            <a:r>
              <a:rPr sz="1800" dirty="0">
                <a:solidFill>
                  <a:srgbClr val="222222"/>
                </a:solidFill>
                <a:latin typeface="Calibri"/>
              </a:rPr>
              <a:t>• </a:t>
            </a:r>
            <a:r>
              <a:rPr sz="1800" dirty="0" err="1">
                <a:solidFill>
                  <a:srgbClr val="222222"/>
                </a:solidFill>
                <a:latin typeface="Calibri"/>
              </a:rPr>
              <a:t>Demostrar</a:t>
            </a:r>
            <a:r>
              <a:rPr sz="1800" dirty="0">
                <a:solidFill>
                  <a:srgbClr val="222222"/>
                </a:solidFill>
                <a:latin typeface="Calibri"/>
              </a:rPr>
              <a:t> un </a:t>
            </a:r>
            <a:r>
              <a:rPr sz="1800" dirty="0" err="1">
                <a:solidFill>
                  <a:srgbClr val="222222"/>
                </a:solidFill>
                <a:latin typeface="Calibri"/>
              </a:rPr>
              <a:t>flujo</a:t>
            </a:r>
            <a:r>
              <a:rPr sz="1800" dirty="0">
                <a:solidFill>
                  <a:srgbClr val="222222"/>
                </a:solidFill>
                <a:latin typeface="Calibri"/>
              </a:rPr>
              <a:t> </a:t>
            </a:r>
            <a:r>
              <a:rPr sz="1800" dirty="0" err="1">
                <a:solidFill>
                  <a:srgbClr val="222222"/>
                </a:solidFill>
                <a:latin typeface="Calibri"/>
              </a:rPr>
              <a:t>completo</a:t>
            </a:r>
            <a:r>
              <a:rPr sz="1800" dirty="0">
                <a:solidFill>
                  <a:srgbClr val="222222"/>
                </a:solidFill>
                <a:latin typeface="Calibri"/>
              </a:rPr>
              <a:t> de </a:t>
            </a:r>
            <a:r>
              <a:rPr sz="1800" dirty="0" err="1">
                <a:solidFill>
                  <a:srgbClr val="222222"/>
                </a:solidFill>
                <a:latin typeface="Calibri"/>
              </a:rPr>
              <a:t>minería</a:t>
            </a:r>
            <a:r>
              <a:rPr sz="1800" dirty="0">
                <a:solidFill>
                  <a:srgbClr val="222222"/>
                </a:solidFill>
                <a:latin typeface="Calibri"/>
              </a:rPr>
              <a:t> de </a:t>
            </a:r>
            <a:r>
              <a:rPr sz="1800" dirty="0" err="1">
                <a:solidFill>
                  <a:srgbClr val="222222"/>
                </a:solidFill>
                <a:latin typeface="Calibri"/>
              </a:rPr>
              <a:t>datos</a:t>
            </a:r>
            <a:r>
              <a:rPr sz="1800" dirty="0">
                <a:solidFill>
                  <a:srgbClr val="222222"/>
                </a:solidFill>
                <a:latin typeface="Calibri"/>
              </a:rPr>
              <a:t> </a:t>
            </a:r>
            <a:r>
              <a:rPr sz="1800" dirty="0" err="1">
                <a:solidFill>
                  <a:srgbClr val="222222"/>
                </a:solidFill>
                <a:latin typeface="Calibri"/>
              </a:rPr>
              <a:t>siguiendo</a:t>
            </a:r>
            <a:r>
              <a:rPr sz="1800" dirty="0">
                <a:solidFill>
                  <a:srgbClr val="222222"/>
                </a:solidFill>
                <a:latin typeface="Calibri"/>
              </a:rPr>
              <a:t> Ciencia 2.0.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5943600"/>
            <a:ext cx="114300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400" b="0">
                <a:solidFill>
                  <a:srgbClr val="555555"/>
                </a:solidFill>
                <a:latin typeface="Calibri"/>
              </a:rPr>
              <a:t>Reproducibilidad: RANDOM_STATE = 42 · semillas fijadas · requirements.txt incluido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4A16B13-202C-2A1C-DDD6-FF9A788EF2C3}"/>
              </a:ext>
            </a:extLst>
          </p:cNvPr>
          <p:cNvSpPr txBox="1"/>
          <p:nvPr/>
        </p:nvSpPr>
        <p:spPr>
          <a:xfrm>
            <a:off x="320040" y="4114800"/>
            <a:ext cx="11430000" cy="430887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lang="en-US" sz="2200" b="1" dirty="0">
                <a:solidFill>
                  <a:srgbClr val="1F77B4"/>
                </a:solidFill>
                <a:latin typeface="Calibri"/>
              </a:rPr>
              <a:t>Tipo de </a:t>
            </a:r>
            <a:r>
              <a:rPr lang="en-US" sz="2200" b="1" dirty="0" err="1">
                <a:solidFill>
                  <a:srgbClr val="1F77B4"/>
                </a:solidFill>
                <a:latin typeface="Calibri"/>
              </a:rPr>
              <a:t>aprendizaje</a:t>
            </a:r>
            <a:r>
              <a:rPr lang="en-US" sz="2200" b="1" dirty="0">
                <a:solidFill>
                  <a:srgbClr val="1F77B4"/>
                </a:solidFill>
                <a:latin typeface="Calibri"/>
              </a:rPr>
              <a:t> </a:t>
            </a:r>
            <a:r>
              <a:rPr lang="en-US" sz="2200" b="1" dirty="0" err="1">
                <a:solidFill>
                  <a:srgbClr val="1F77B4"/>
                </a:solidFill>
                <a:latin typeface="Calibri"/>
              </a:rPr>
              <a:t>computado</a:t>
            </a:r>
            <a:r>
              <a:rPr lang="en-US" sz="2200" b="1" dirty="0">
                <a:solidFill>
                  <a:srgbClr val="1F77B4"/>
                </a:solidFill>
                <a:latin typeface="Calibri"/>
              </a:rPr>
              <a:t> para </a:t>
            </a:r>
            <a:r>
              <a:rPr lang="en-US" sz="2200" b="1" dirty="0" err="1">
                <a:solidFill>
                  <a:srgbClr val="1F77B4"/>
                </a:solidFill>
                <a:latin typeface="Calibri"/>
              </a:rPr>
              <a:t>este</a:t>
            </a:r>
            <a:r>
              <a:rPr lang="en-US" sz="2200" b="1" dirty="0">
                <a:solidFill>
                  <a:srgbClr val="1F77B4"/>
                </a:solidFill>
                <a:latin typeface="Calibri"/>
              </a:rPr>
              <a:t> </a:t>
            </a:r>
            <a:r>
              <a:rPr lang="en-US" sz="2200" b="1" dirty="0" err="1">
                <a:solidFill>
                  <a:srgbClr val="1F77B4"/>
                </a:solidFill>
                <a:latin typeface="Calibri"/>
              </a:rPr>
              <a:t>problema</a:t>
            </a:r>
            <a:endParaRPr sz="2200" b="1" dirty="0">
              <a:solidFill>
                <a:srgbClr val="1F77B4"/>
              </a:solidFill>
              <a:latin typeface="Calibri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A53DA43-F59F-9DE5-891C-8D9388CF662C}"/>
              </a:ext>
            </a:extLst>
          </p:cNvPr>
          <p:cNvSpPr txBox="1"/>
          <p:nvPr/>
        </p:nvSpPr>
        <p:spPr>
          <a:xfrm>
            <a:off x="548640" y="4652200"/>
            <a:ext cx="109728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lang="en-US" dirty="0">
                <a:solidFill>
                  <a:srgbClr val="222222"/>
                </a:solidFill>
              </a:rPr>
              <a:t>• </a:t>
            </a:r>
            <a:r>
              <a:rPr lang="en-US" dirty="0" err="1">
                <a:solidFill>
                  <a:srgbClr val="222222"/>
                </a:solidFill>
                <a:latin typeface="Calibri"/>
              </a:rPr>
              <a:t>Aprendizaje</a:t>
            </a:r>
            <a:r>
              <a:rPr lang="en-US" dirty="0">
                <a:solidFill>
                  <a:srgbClr val="222222"/>
                </a:solidFill>
                <a:latin typeface="Calibri"/>
              </a:rPr>
              <a:t> no </a:t>
            </a:r>
            <a:r>
              <a:rPr lang="en-US" dirty="0" err="1">
                <a:solidFill>
                  <a:srgbClr val="222222"/>
                </a:solidFill>
                <a:latin typeface="Calibri"/>
              </a:rPr>
              <a:t>supervisado</a:t>
            </a:r>
            <a:r>
              <a:rPr lang="en-US" dirty="0">
                <a:solidFill>
                  <a:srgbClr val="222222"/>
                </a:solidFill>
                <a:latin typeface="Calibri"/>
              </a:rPr>
              <a:t>: no. Solo se </a:t>
            </a:r>
            <a:r>
              <a:rPr lang="en-US" dirty="0" err="1">
                <a:solidFill>
                  <a:srgbClr val="222222"/>
                </a:solidFill>
                <a:latin typeface="Calibri"/>
              </a:rPr>
              <a:t>tienen</a:t>
            </a:r>
            <a:r>
              <a:rPr lang="en-US" dirty="0">
                <a:solidFill>
                  <a:srgbClr val="222222"/>
                </a:solidFill>
                <a:latin typeface="Calibri"/>
              </a:rPr>
              <a:t> </a:t>
            </a:r>
            <a:r>
              <a:rPr lang="en-US" dirty="0" err="1">
                <a:solidFill>
                  <a:srgbClr val="222222"/>
                </a:solidFill>
                <a:latin typeface="Calibri"/>
              </a:rPr>
              <a:t>datos</a:t>
            </a:r>
            <a:r>
              <a:rPr lang="en-US" dirty="0">
                <a:solidFill>
                  <a:srgbClr val="222222"/>
                </a:solidFill>
                <a:latin typeface="Calibri"/>
              </a:rPr>
              <a:t> y la </a:t>
            </a:r>
            <a:r>
              <a:rPr lang="en-US" dirty="0" err="1">
                <a:solidFill>
                  <a:srgbClr val="222222"/>
                </a:solidFill>
                <a:latin typeface="Calibri"/>
              </a:rPr>
              <a:t>maquina</a:t>
            </a:r>
            <a:r>
              <a:rPr lang="en-US" dirty="0">
                <a:solidFill>
                  <a:srgbClr val="222222"/>
                </a:solidFill>
                <a:latin typeface="Calibri"/>
              </a:rPr>
              <a:t> </a:t>
            </a:r>
            <a:r>
              <a:rPr lang="en-US" dirty="0" err="1">
                <a:solidFill>
                  <a:srgbClr val="222222"/>
                </a:solidFill>
                <a:latin typeface="Calibri"/>
              </a:rPr>
              <a:t>debe</a:t>
            </a:r>
            <a:r>
              <a:rPr lang="en-US" dirty="0">
                <a:solidFill>
                  <a:srgbClr val="222222"/>
                </a:solidFill>
                <a:latin typeface="Calibri"/>
              </a:rPr>
              <a:t> </a:t>
            </a:r>
            <a:r>
              <a:rPr lang="en-US" dirty="0" err="1">
                <a:solidFill>
                  <a:srgbClr val="222222"/>
                </a:solidFill>
                <a:latin typeface="Calibri"/>
              </a:rPr>
              <a:t>descubrir</a:t>
            </a:r>
            <a:r>
              <a:rPr lang="en-US" dirty="0">
                <a:solidFill>
                  <a:srgbClr val="222222"/>
                </a:solidFill>
                <a:latin typeface="Calibri"/>
              </a:rPr>
              <a:t>  </a:t>
            </a:r>
            <a:r>
              <a:rPr lang="en-US" dirty="0" err="1">
                <a:solidFill>
                  <a:srgbClr val="222222"/>
                </a:solidFill>
                <a:latin typeface="Calibri"/>
              </a:rPr>
              <a:t>patrones</a:t>
            </a:r>
            <a:r>
              <a:rPr lang="en-US" dirty="0">
                <a:solidFill>
                  <a:srgbClr val="222222"/>
                </a:solidFill>
                <a:latin typeface="Calibri"/>
              </a:rPr>
              <a:t> </a:t>
            </a:r>
            <a:r>
              <a:rPr lang="en-US" dirty="0" err="1">
                <a:solidFill>
                  <a:srgbClr val="222222"/>
                </a:solidFill>
                <a:latin typeface="Calibri"/>
              </a:rPr>
              <a:t>por</a:t>
            </a:r>
            <a:r>
              <a:rPr lang="en-US" dirty="0">
                <a:solidFill>
                  <a:srgbClr val="222222"/>
                </a:solidFill>
                <a:latin typeface="Calibri"/>
              </a:rPr>
              <a:t> </a:t>
            </a:r>
            <a:r>
              <a:rPr lang="en-US" dirty="0" err="1">
                <a:solidFill>
                  <a:srgbClr val="222222"/>
                </a:solidFill>
                <a:latin typeface="Calibri"/>
              </a:rPr>
              <a:t>cuenta</a:t>
            </a:r>
            <a:r>
              <a:rPr lang="en-US" dirty="0">
                <a:solidFill>
                  <a:srgbClr val="222222"/>
                </a:solidFill>
                <a:latin typeface="Calibri"/>
              </a:rPr>
              <a:t> </a:t>
            </a:r>
            <a:r>
              <a:rPr lang="en-US" dirty="0" err="1">
                <a:solidFill>
                  <a:srgbClr val="222222"/>
                </a:solidFill>
                <a:latin typeface="Calibri"/>
              </a:rPr>
              <a:t>propia</a:t>
            </a:r>
            <a:r>
              <a:rPr lang="en-US" dirty="0">
                <a:solidFill>
                  <a:srgbClr val="222222"/>
                </a:solidFill>
                <a:latin typeface="Calibri"/>
              </a:rPr>
              <a:t>.</a:t>
            </a:r>
            <a:endParaRPr sz="1800" dirty="0">
              <a:solidFill>
                <a:srgbClr val="222222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0B2E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45720"/>
            <a:ext cx="114300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Calibri"/>
              </a:rPr>
              <a:t>2. Dataset y variables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0080"/>
            <a:ext cx="114300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400" b="0">
                <a:solidFill>
                  <a:srgbClr val="555555"/>
                </a:solidFill>
                <a:latin typeface="Calibri"/>
              </a:rPr>
              <a:t>Palmer Penguins (Gorman et al., 2014)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188720"/>
            <a:ext cx="57607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dirty="0">
                <a:solidFill>
                  <a:srgbClr val="222222"/>
                </a:solidFill>
                <a:latin typeface="Calibri"/>
              </a:rPr>
              <a:t>• 344 </a:t>
            </a:r>
            <a:r>
              <a:rPr sz="1800" dirty="0" err="1">
                <a:solidFill>
                  <a:srgbClr val="222222"/>
                </a:solidFill>
                <a:latin typeface="Calibri"/>
              </a:rPr>
              <a:t>observaciones</a:t>
            </a:r>
            <a:r>
              <a:rPr sz="1800" dirty="0">
                <a:solidFill>
                  <a:srgbClr val="222222"/>
                </a:solidFill>
                <a:latin typeface="Calibri"/>
              </a:rPr>
              <a:t> · 3 </a:t>
            </a:r>
            <a:r>
              <a:rPr sz="1800" dirty="0" err="1">
                <a:solidFill>
                  <a:srgbClr val="222222"/>
                </a:solidFill>
                <a:latin typeface="Calibri"/>
              </a:rPr>
              <a:t>especies</a:t>
            </a:r>
            <a:endParaRPr sz="1800" dirty="0">
              <a:solidFill>
                <a:srgbClr val="222222"/>
              </a:solidFill>
              <a:latin typeface="Calibri"/>
            </a:endParaRPr>
          </a:p>
          <a:p>
            <a:pPr algn="l">
              <a:spcAft>
                <a:spcPts val="600"/>
              </a:spcAft>
            </a:pPr>
            <a:r>
              <a:rPr sz="1800" dirty="0">
                <a:solidFill>
                  <a:srgbClr val="222222"/>
                </a:solidFill>
                <a:latin typeface="Calibri"/>
              </a:rPr>
              <a:t>• Adelie (152) · Gentoo (124) · Chinstrap (68)</a:t>
            </a:r>
          </a:p>
          <a:p>
            <a:pPr algn="l">
              <a:spcAft>
                <a:spcPts val="600"/>
              </a:spcAft>
            </a:pPr>
            <a:r>
              <a:rPr sz="1800" dirty="0">
                <a:solidFill>
                  <a:srgbClr val="222222"/>
                </a:solidFill>
                <a:latin typeface="Calibri"/>
              </a:rPr>
              <a:t>• 3 </a:t>
            </a:r>
            <a:r>
              <a:rPr sz="1800" dirty="0" err="1">
                <a:solidFill>
                  <a:srgbClr val="222222"/>
                </a:solidFill>
                <a:latin typeface="Calibri"/>
              </a:rPr>
              <a:t>islas</a:t>
            </a:r>
            <a:r>
              <a:rPr sz="1800" dirty="0">
                <a:solidFill>
                  <a:srgbClr val="222222"/>
                </a:solidFill>
                <a:latin typeface="Calibri"/>
              </a:rPr>
              <a:t>: Biscoe, Dream, Torgersen</a:t>
            </a:r>
          </a:p>
          <a:p>
            <a:pPr algn="l">
              <a:spcAft>
                <a:spcPts val="600"/>
              </a:spcAft>
            </a:pPr>
            <a:r>
              <a:rPr sz="1800" dirty="0">
                <a:solidFill>
                  <a:srgbClr val="222222"/>
                </a:solidFill>
                <a:latin typeface="Calibri"/>
              </a:rPr>
              <a:t>• </a:t>
            </a:r>
            <a:r>
              <a:rPr sz="1800" dirty="0" err="1">
                <a:solidFill>
                  <a:srgbClr val="222222"/>
                </a:solidFill>
                <a:latin typeface="Calibri"/>
              </a:rPr>
              <a:t>Licencia</a:t>
            </a:r>
            <a:r>
              <a:rPr sz="1800" dirty="0">
                <a:solidFill>
                  <a:srgbClr val="222222"/>
                </a:solidFill>
                <a:latin typeface="Calibri"/>
              </a:rPr>
              <a:t> CC-0 — </a:t>
            </a:r>
            <a:r>
              <a:rPr sz="1800" dirty="0" err="1">
                <a:solidFill>
                  <a:srgbClr val="222222"/>
                </a:solidFill>
                <a:latin typeface="Calibri"/>
              </a:rPr>
              <a:t>dominio</a:t>
            </a:r>
            <a:r>
              <a:rPr sz="1800" dirty="0">
                <a:solidFill>
                  <a:srgbClr val="222222"/>
                </a:solidFill>
                <a:latin typeface="Calibri"/>
              </a:rPr>
              <a:t> </a:t>
            </a:r>
            <a:r>
              <a:rPr sz="1800" dirty="0" err="1">
                <a:solidFill>
                  <a:srgbClr val="222222"/>
                </a:solidFill>
                <a:latin typeface="Calibri"/>
              </a:rPr>
              <a:t>público</a:t>
            </a:r>
            <a:endParaRPr sz="1800" dirty="0">
              <a:solidFill>
                <a:srgbClr val="222222"/>
              </a:solidFill>
              <a:latin typeface="Calibri"/>
            </a:endParaRPr>
          </a:p>
          <a:p>
            <a:pPr algn="l">
              <a:spcAft>
                <a:spcPts val="600"/>
              </a:spcAft>
            </a:pPr>
            <a:r>
              <a:rPr sz="1800" dirty="0">
                <a:solidFill>
                  <a:srgbClr val="222222"/>
                </a:solidFill>
                <a:latin typeface="Calibri"/>
              </a:rPr>
              <a:t>• Fuente: github.com/</a:t>
            </a:r>
            <a:r>
              <a:rPr sz="1800" dirty="0" err="1">
                <a:solidFill>
                  <a:srgbClr val="222222"/>
                </a:solidFill>
                <a:latin typeface="Calibri"/>
              </a:rPr>
              <a:t>allisonhorst</a:t>
            </a:r>
            <a:r>
              <a:rPr sz="1800" dirty="0">
                <a:solidFill>
                  <a:srgbClr val="222222"/>
                </a:solidFill>
                <a:latin typeface="Calibri"/>
              </a:rPr>
              <a:t>/</a:t>
            </a:r>
            <a:r>
              <a:rPr sz="1800" dirty="0" err="1">
                <a:solidFill>
                  <a:srgbClr val="222222"/>
                </a:solidFill>
                <a:latin typeface="Calibri"/>
              </a:rPr>
              <a:t>palmerpenguins</a:t>
            </a:r>
            <a:endParaRPr sz="1800" dirty="0">
              <a:solidFill>
                <a:srgbClr val="222222"/>
              </a:solidFill>
              <a:latin typeface="Calibri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365760" y="4206240"/>
            <a:ext cx="576072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1">
                <a:solidFill>
                  <a:srgbClr val="1F77B4"/>
                </a:solidFill>
                <a:latin typeface="Calibri"/>
              </a:rPr>
              <a:t>Variables numéricas usadas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4709160"/>
            <a:ext cx="5760720" cy="13080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dirty="0">
                <a:solidFill>
                  <a:srgbClr val="222222"/>
                </a:solidFill>
                <a:latin typeface="Calibri"/>
              </a:rPr>
              <a:t>• </a:t>
            </a:r>
            <a:r>
              <a:rPr sz="1600" dirty="0" err="1">
                <a:solidFill>
                  <a:srgbClr val="222222"/>
                </a:solidFill>
                <a:latin typeface="Calibri"/>
              </a:rPr>
              <a:t>bill_length_mm</a:t>
            </a:r>
            <a:r>
              <a:rPr lang="en-US" sz="1600" dirty="0">
                <a:solidFill>
                  <a:srgbClr val="222222"/>
                </a:solidFill>
                <a:latin typeface="Calibri"/>
              </a:rPr>
              <a:t> (largo del </a:t>
            </a:r>
            <a:r>
              <a:rPr lang="en-US" sz="1600" dirty="0" err="1">
                <a:solidFill>
                  <a:srgbClr val="222222"/>
                </a:solidFill>
                <a:latin typeface="Calibri"/>
              </a:rPr>
              <a:t>pico</a:t>
            </a:r>
            <a:r>
              <a:rPr lang="en-US" sz="1600" dirty="0">
                <a:solidFill>
                  <a:srgbClr val="222222"/>
                </a:solidFill>
                <a:latin typeface="Calibri"/>
              </a:rPr>
              <a:t>)</a:t>
            </a:r>
            <a:endParaRPr sz="1600" dirty="0">
              <a:solidFill>
                <a:srgbClr val="222222"/>
              </a:solidFill>
              <a:latin typeface="Calibri"/>
            </a:endParaRPr>
          </a:p>
          <a:p>
            <a:pPr algn="l">
              <a:spcAft>
                <a:spcPts val="600"/>
              </a:spcAft>
            </a:pPr>
            <a:r>
              <a:rPr sz="1600" dirty="0">
                <a:solidFill>
                  <a:srgbClr val="222222"/>
                </a:solidFill>
                <a:latin typeface="Calibri"/>
              </a:rPr>
              <a:t>• </a:t>
            </a:r>
            <a:r>
              <a:rPr sz="1600" dirty="0" err="1">
                <a:solidFill>
                  <a:srgbClr val="222222"/>
                </a:solidFill>
                <a:latin typeface="Calibri"/>
              </a:rPr>
              <a:t>bill_depth_mm</a:t>
            </a:r>
            <a:r>
              <a:rPr lang="en-US" sz="1600" dirty="0">
                <a:solidFill>
                  <a:srgbClr val="222222"/>
                </a:solidFill>
                <a:latin typeface="Calibri"/>
              </a:rPr>
              <a:t> (</a:t>
            </a:r>
            <a:r>
              <a:rPr lang="en-US" sz="1600" dirty="0" err="1">
                <a:solidFill>
                  <a:srgbClr val="222222"/>
                </a:solidFill>
                <a:latin typeface="Calibri"/>
              </a:rPr>
              <a:t>profundidad</a:t>
            </a:r>
            <a:r>
              <a:rPr lang="en-US" sz="1600" dirty="0">
                <a:solidFill>
                  <a:srgbClr val="222222"/>
                </a:solidFill>
                <a:latin typeface="Calibri"/>
              </a:rPr>
              <a:t> del </a:t>
            </a:r>
            <a:r>
              <a:rPr lang="en-US" sz="1600" dirty="0" err="1">
                <a:solidFill>
                  <a:srgbClr val="222222"/>
                </a:solidFill>
                <a:latin typeface="Calibri"/>
              </a:rPr>
              <a:t>pico</a:t>
            </a:r>
            <a:r>
              <a:rPr lang="en-US" sz="1600" dirty="0">
                <a:solidFill>
                  <a:srgbClr val="222222"/>
                </a:solidFill>
                <a:latin typeface="Calibri"/>
              </a:rPr>
              <a:t>)</a:t>
            </a:r>
            <a:endParaRPr sz="1600" dirty="0">
              <a:solidFill>
                <a:srgbClr val="222222"/>
              </a:solidFill>
              <a:latin typeface="Calibri"/>
            </a:endParaRPr>
          </a:p>
          <a:p>
            <a:pPr algn="l">
              <a:spcAft>
                <a:spcPts val="600"/>
              </a:spcAft>
            </a:pPr>
            <a:r>
              <a:rPr sz="1600" dirty="0">
                <a:solidFill>
                  <a:srgbClr val="222222"/>
                </a:solidFill>
                <a:latin typeface="Calibri"/>
              </a:rPr>
              <a:t>• </a:t>
            </a:r>
            <a:r>
              <a:rPr sz="1600" dirty="0" err="1">
                <a:solidFill>
                  <a:srgbClr val="222222"/>
                </a:solidFill>
                <a:latin typeface="Calibri"/>
              </a:rPr>
              <a:t>flipper_length_mm</a:t>
            </a:r>
            <a:r>
              <a:rPr lang="en-US" sz="1600" dirty="0">
                <a:solidFill>
                  <a:srgbClr val="222222"/>
                </a:solidFill>
                <a:latin typeface="Calibri"/>
              </a:rPr>
              <a:t> (</a:t>
            </a:r>
            <a:r>
              <a:rPr lang="en-US" sz="1600" dirty="0" err="1">
                <a:solidFill>
                  <a:srgbClr val="222222"/>
                </a:solidFill>
                <a:latin typeface="Calibri"/>
              </a:rPr>
              <a:t>alrgo</a:t>
            </a:r>
            <a:r>
              <a:rPr lang="en-US" sz="1600" dirty="0">
                <a:solidFill>
                  <a:srgbClr val="222222"/>
                </a:solidFill>
                <a:latin typeface="Calibri"/>
              </a:rPr>
              <a:t> de la </a:t>
            </a:r>
            <a:r>
              <a:rPr lang="en-US" sz="1600" dirty="0" err="1">
                <a:solidFill>
                  <a:srgbClr val="222222"/>
                </a:solidFill>
                <a:latin typeface="Calibri"/>
              </a:rPr>
              <a:t>aleta</a:t>
            </a:r>
            <a:r>
              <a:rPr lang="en-US" sz="1600" dirty="0">
                <a:solidFill>
                  <a:srgbClr val="222222"/>
                </a:solidFill>
                <a:latin typeface="Calibri"/>
              </a:rPr>
              <a:t>)</a:t>
            </a:r>
            <a:endParaRPr sz="1600" dirty="0">
              <a:solidFill>
                <a:srgbClr val="222222"/>
              </a:solidFill>
              <a:latin typeface="Calibri"/>
            </a:endParaRPr>
          </a:p>
          <a:p>
            <a:pPr algn="l">
              <a:spcAft>
                <a:spcPts val="600"/>
              </a:spcAft>
            </a:pPr>
            <a:r>
              <a:rPr sz="1600" dirty="0">
                <a:solidFill>
                  <a:srgbClr val="222222"/>
                </a:solidFill>
                <a:latin typeface="Calibri"/>
              </a:rPr>
              <a:t>• </a:t>
            </a:r>
            <a:r>
              <a:rPr sz="1600" dirty="0" err="1">
                <a:solidFill>
                  <a:srgbClr val="222222"/>
                </a:solidFill>
                <a:latin typeface="Calibri"/>
              </a:rPr>
              <a:t>body_mass_g</a:t>
            </a:r>
            <a:r>
              <a:rPr lang="en-US" sz="1600" dirty="0">
                <a:solidFill>
                  <a:srgbClr val="222222"/>
                </a:solidFill>
                <a:latin typeface="Calibri"/>
              </a:rPr>
              <a:t> (peso corporal)</a:t>
            </a:r>
            <a:endParaRPr sz="1600" dirty="0">
              <a:solidFill>
                <a:srgbClr val="222222"/>
              </a:solidFill>
              <a:latin typeface="Calibri"/>
            </a:endParaRPr>
          </a:p>
        </p:txBody>
      </p:sp>
      <p:pic>
        <p:nvPicPr>
          <p:cNvPr id="8" name="Picture 7" descr="pairpl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9360" y="1005840"/>
            <a:ext cx="5973782" cy="54864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0B2E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45720"/>
            <a:ext cx="114300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Calibri"/>
              </a:rPr>
              <a:t>3. Métodos utilizados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0080"/>
            <a:ext cx="114300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400" b="0">
                <a:solidFill>
                  <a:srgbClr val="555555"/>
                </a:solidFill>
                <a:latin typeface="Calibri"/>
              </a:rPr>
              <a:t>Preprocesamiento: dropna() + StandardScaler (4 variables numéricas)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280160"/>
            <a:ext cx="3383280" cy="5029200"/>
          </a:xfrm>
          <a:prstGeom prst="roundRect">
            <a:avLst/>
          </a:prstGeom>
          <a:solidFill>
            <a:srgbClr val="F2F6FA"/>
          </a:solidFill>
          <a:ln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77240" y="1463040"/>
            <a:ext cx="3108960" cy="548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2200" b="1">
                <a:solidFill>
                  <a:srgbClr val="0B2E4F"/>
                </a:solidFill>
                <a:latin typeface="Calibri"/>
              </a:rPr>
              <a:t>K-Means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194560"/>
            <a:ext cx="3108960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1400" b="0">
                <a:solidFill>
                  <a:srgbClr val="1F77B4"/>
                </a:solidFill>
                <a:latin typeface="Calibri"/>
              </a:rPr>
              <a:t>n_clusters = 3
n_init = 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3383280"/>
            <a:ext cx="3108960" cy="2743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500" b="0">
                <a:solidFill>
                  <a:srgbClr val="222222"/>
                </a:solidFill>
                <a:latin typeface="Calibri"/>
              </a:rPr>
              <a:t>Minimiza la suma de distancias al centroide. Rápido y simple, asume clusters convexos.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97680" y="1280160"/>
            <a:ext cx="3383280" cy="5029200"/>
          </a:xfrm>
          <a:prstGeom prst="roundRect">
            <a:avLst/>
          </a:prstGeom>
          <a:solidFill>
            <a:srgbClr val="F2F6FA"/>
          </a:solidFill>
          <a:ln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434840" y="1463040"/>
            <a:ext cx="3108960" cy="548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2200" b="1">
                <a:solidFill>
                  <a:srgbClr val="0B2E4F"/>
                </a:solidFill>
                <a:latin typeface="Calibri"/>
              </a:rPr>
              <a:t>DBSCAN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34840" y="2194560"/>
            <a:ext cx="3108960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1400" b="0">
                <a:solidFill>
                  <a:srgbClr val="1F77B4"/>
                </a:solidFill>
                <a:latin typeface="Calibri"/>
              </a:rPr>
              <a:t>eps = 0.6
min_samples = 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34840" y="3383280"/>
            <a:ext cx="3108960" cy="2743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500" b="0">
                <a:solidFill>
                  <a:srgbClr val="222222"/>
                </a:solidFill>
                <a:latin typeface="Calibri"/>
              </a:rPr>
              <a:t>Basado en densidad. Detecta ruido (etiqueta −1). No requiere fijar k.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955280" y="1280160"/>
            <a:ext cx="3383280" cy="5029200"/>
          </a:xfrm>
          <a:prstGeom prst="roundRect">
            <a:avLst/>
          </a:prstGeom>
          <a:solidFill>
            <a:srgbClr val="F2F6FA"/>
          </a:solidFill>
          <a:ln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092440" y="1463040"/>
            <a:ext cx="3108960" cy="548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2200" b="1">
                <a:solidFill>
                  <a:srgbClr val="0B2E4F"/>
                </a:solidFill>
                <a:latin typeface="Calibri"/>
              </a:rPr>
              <a:t>Agglomerative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92440" y="2194560"/>
            <a:ext cx="3108960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1400" b="0">
                <a:solidFill>
                  <a:srgbClr val="1F77B4"/>
                </a:solidFill>
                <a:latin typeface="Calibri"/>
              </a:rPr>
              <a:t>n_clusters = 3
linkage = ward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92440" y="3383280"/>
            <a:ext cx="3108960" cy="2743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500" b="0">
                <a:solidFill>
                  <a:srgbClr val="222222"/>
                </a:solidFill>
                <a:latin typeface="Calibri"/>
              </a:rPr>
              <a:t>Jerárquico aglomerativo. Une iterativamente clusters minimizando la varianza.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0B2E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45720"/>
            <a:ext cx="114300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Calibri"/>
              </a:rPr>
              <a:t>4. Resultados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0080"/>
            <a:ext cx="114300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400" b="0">
                <a:solidFill>
                  <a:srgbClr val="555555"/>
                </a:solidFill>
                <a:latin typeface="Calibri"/>
              </a:rPr>
              <a:t>Métricas y proyección PCA — Agglomerative obtiene el mejor ARI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65760" y="1280160"/>
          <a:ext cx="4937760" cy="2103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344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344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344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344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525780"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Algoritmo</a:t>
                      </a:r>
                    </a:p>
                  </a:txBody>
                  <a:tcPr>
                    <a:solidFill>
                      <a:srgbClr val="0B2E4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Silhouette</a:t>
                      </a:r>
                    </a:p>
                  </a:txBody>
                  <a:tcPr>
                    <a:solidFill>
                      <a:srgbClr val="0B2E4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ARI</a:t>
                      </a:r>
                    </a:p>
                  </a:txBody>
                  <a:tcPr>
                    <a:solidFill>
                      <a:srgbClr val="0B2E4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Ruido</a:t>
                      </a:r>
                    </a:p>
                  </a:txBody>
                  <a:tcPr>
                    <a:solidFill>
                      <a:srgbClr val="0B2E4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25780"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K-Means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0.447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0.793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25780"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DBSCAN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0.557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0.584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33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25780">
                <a:tc>
                  <a:txBody>
                    <a:bodyPr/>
                    <a:lstStyle/>
                    <a:p>
                      <a:pPr algn="ctr"/>
                      <a:r>
                        <a:rPr sz="1400" dirty="0">
                          <a:solidFill>
                            <a:srgbClr val="222222"/>
                          </a:solidFill>
                          <a:latin typeface="Calibri"/>
                        </a:rPr>
                        <a:t>Agglomerative</a:t>
                      </a:r>
                    </a:p>
                  </a:txBody>
                  <a:tcPr>
                    <a:solidFill>
                      <a:srgbClr val="EAF4E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0.454</a:t>
                      </a:r>
                    </a:p>
                  </a:txBody>
                  <a:tcPr>
                    <a:solidFill>
                      <a:srgbClr val="EAF4E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0.916</a:t>
                      </a:r>
                    </a:p>
                  </a:txBody>
                  <a:tcPr>
                    <a:solidFill>
                      <a:srgbClr val="EAF4E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dirty="0">
                          <a:solidFill>
                            <a:srgbClr val="222222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EAF4E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65760" y="3657600"/>
            <a:ext cx="512064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1">
                <a:solidFill>
                  <a:srgbClr val="1F77B4"/>
                </a:solidFill>
                <a:latin typeface="Calibri"/>
              </a:rPr>
              <a:t>Observaciones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4114800"/>
            <a:ext cx="512064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dirty="0">
                <a:solidFill>
                  <a:srgbClr val="222222"/>
                </a:solidFill>
                <a:latin typeface="Calibri"/>
              </a:rPr>
              <a:t>• Agglomerative </a:t>
            </a:r>
            <a:r>
              <a:rPr sz="1500" dirty="0" err="1">
                <a:solidFill>
                  <a:srgbClr val="222222"/>
                </a:solidFill>
                <a:latin typeface="Calibri"/>
              </a:rPr>
              <a:t>recupera</a:t>
            </a:r>
            <a:r>
              <a:rPr sz="1500" dirty="0">
                <a:solidFill>
                  <a:srgbClr val="222222"/>
                </a:solidFill>
                <a:latin typeface="Calibri"/>
              </a:rPr>
              <a:t> </a:t>
            </a:r>
            <a:r>
              <a:rPr sz="1500" dirty="0" err="1">
                <a:solidFill>
                  <a:srgbClr val="222222"/>
                </a:solidFill>
                <a:latin typeface="Calibri"/>
              </a:rPr>
              <a:t>mejor</a:t>
            </a:r>
            <a:r>
              <a:rPr sz="1500" dirty="0">
                <a:solidFill>
                  <a:srgbClr val="222222"/>
                </a:solidFill>
                <a:latin typeface="Calibri"/>
              </a:rPr>
              <a:t> las 3 </a:t>
            </a:r>
            <a:r>
              <a:rPr sz="1500" dirty="0" err="1">
                <a:solidFill>
                  <a:srgbClr val="222222"/>
                </a:solidFill>
                <a:latin typeface="Calibri"/>
              </a:rPr>
              <a:t>especies</a:t>
            </a:r>
            <a:r>
              <a:rPr sz="1500" dirty="0">
                <a:solidFill>
                  <a:srgbClr val="222222"/>
                </a:solidFill>
                <a:latin typeface="Calibri"/>
              </a:rPr>
              <a:t> (ARI = 0.92).</a:t>
            </a:r>
          </a:p>
          <a:p>
            <a:pPr algn="l">
              <a:spcAft>
                <a:spcPts val="600"/>
              </a:spcAft>
            </a:pPr>
            <a:r>
              <a:rPr sz="1500" dirty="0">
                <a:solidFill>
                  <a:srgbClr val="222222"/>
                </a:solidFill>
                <a:latin typeface="Calibri"/>
              </a:rPr>
              <a:t>• Tras </a:t>
            </a:r>
            <a:r>
              <a:rPr sz="1500" dirty="0" err="1">
                <a:solidFill>
                  <a:srgbClr val="222222"/>
                </a:solidFill>
                <a:latin typeface="Calibri"/>
              </a:rPr>
              <a:t>mapear</a:t>
            </a:r>
            <a:r>
              <a:rPr sz="1500" dirty="0">
                <a:solidFill>
                  <a:srgbClr val="222222"/>
                </a:solidFill>
                <a:latin typeface="Calibri"/>
              </a:rPr>
              <a:t> cluster → </a:t>
            </a:r>
            <a:r>
              <a:rPr sz="1500" dirty="0" err="1">
                <a:solidFill>
                  <a:srgbClr val="222222"/>
                </a:solidFill>
                <a:latin typeface="Calibri"/>
              </a:rPr>
              <a:t>especie</a:t>
            </a:r>
            <a:r>
              <a:rPr sz="1500" dirty="0">
                <a:solidFill>
                  <a:srgbClr val="222222"/>
                </a:solidFill>
                <a:latin typeface="Calibri"/>
              </a:rPr>
              <a:t> </a:t>
            </a:r>
            <a:r>
              <a:rPr sz="1500" dirty="0" err="1">
                <a:solidFill>
                  <a:srgbClr val="222222"/>
                </a:solidFill>
                <a:latin typeface="Calibri"/>
              </a:rPr>
              <a:t>por</a:t>
            </a:r>
            <a:r>
              <a:rPr sz="1500" dirty="0">
                <a:solidFill>
                  <a:srgbClr val="222222"/>
                </a:solidFill>
                <a:latin typeface="Calibri"/>
              </a:rPr>
              <a:t> </a:t>
            </a:r>
            <a:r>
              <a:rPr sz="1500" dirty="0" err="1">
                <a:solidFill>
                  <a:srgbClr val="222222"/>
                </a:solidFill>
                <a:latin typeface="Calibri"/>
              </a:rPr>
              <a:t>mayoría</a:t>
            </a:r>
            <a:r>
              <a:rPr sz="1500" dirty="0">
                <a:solidFill>
                  <a:srgbClr val="222222"/>
                </a:solidFill>
                <a:latin typeface="Calibri"/>
              </a:rPr>
              <a:t>: </a:t>
            </a:r>
            <a:r>
              <a:rPr sz="1500" dirty="0" err="1">
                <a:solidFill>
                  <a:srgbClr val="222222"/>
                </a:solidFill>
                <a:latin typeface="Calibri"/>
              </a:rPr>
              <a:t>exactitud</a:t>
            </a:r>
            <a:r>
              <a:rPr sz="1500" dirty="0">
                <a:solidFill>
                  <a:srgbClr val="222222"/>
                </a:solidFill>
                <a:latin typeface="Calibri"/>
              </a:rPr>
              <a:t> 96.8 % (331/342).</a:t>
            </a:r>
          </a:p>
          <a:p>
            <a:pPr algn="l">
              <a:spcAft>
                <a:spcPts val="600"/>
              </a:spcAft>
            </a:pPr>
            <a:r>
              <a:rPr sz="1500" dirty="0">
                <a:solidFill>
                  <a:srgbClr val="222222"/>
                </a:solidFill>
                <a:latin typeface="Calibri"/>
              </a:rPr>
              <a:t>• </a:t>
            </a:r>
            <a:r>
              <a:rPr sz="1500" dirty="0" err="1">
                <a:solidFill>
                  <a:srgbClr val="222222"/>
                </a:solidFill>
                <a:latin typeface="Calibri"/>
              </a:rPr>
              <a:t>Mapeo</a:t>
            </a:r>
            <a:r>
              <a:rPr sz="1500" dirty="0">
                <a:solidFill>
                  <a:srgbClr val="222222"/>
                </a:solidFill>
                <a:latin typeface="Calibri"/>
              </a:rPr>
              <a:t>: Cluster 0 → Adelie, Cluster 1 → Gentoo, Cluster 2 → Chinstrap.</a:t>
            </a:r>
          </a:p>
          <a:p>
            <a:pPr algn="l">
              <a:spcAft>
                <a:spcPts val="600"/>
              </a:spcAft>
            </a:pPr>
            <a:r>
              <a:rPr sz="1500" dirty="0">
                <a:solidFill>
                  <a:srgbClr val="222222"/>
                </a:solidFill>
                <a:latin typeface="Calibri"/>
              </a:rPr>
              <a:t>• DBSCAN </a:t>
            </a:r>
            <a:r>
              <a:rPr sz="1500" dirty="0" err="1">
                <a:solidFill>
                  <a:srgbClr val="222222"/>
                </a:solidFill>
                <a:latin typeface="Calibri"/>
              </a:rPr>
              <a:t>tiene</a:t>
            </a:r>
            <a:r>
              <a:rPr sz="1500" dirty="0">
                <a:solidFill>
                  <a:srgbClr val="222222"/>
                </a:solidFill>
                <a:latin typeface="Calibri"/>
              </a:rPr>
              <a:t> </a:t>
            </a:r>
            <a:r>
              <a:rPr sz="1500" dirty="0" err="1">
                <a:solidFill>
                  <a:srgbClr val="222222"/>
                </a:solidFill>
                <a:latin typeface="Calibri"/>
              </a:rPr>
              <a:t>mejor</a:t>
            </a:r>
            <a:r>
              <a:rPr sz="1500" dirty="0">
                <a:solidFill>
                  <a:srgbClr val="222222"/>
                </a:solidFill>
                <a:latin typeface="Calibri"/>
              </a:rPr>
              <a:t> </a:t>
            </a:r>
            <a:r>
              <a:rPr sz="1500" dirty="0" err="1">
                <a:solidFill>
                  <a:srgbClr val="222222"/>
                </a:solidFill>
                <a:latin typeface="Calibri"/>
              </a:rPr>
              <a:t>compacidad</a:t>
            </a:r>
            <a:r>
              <a:rPr sz="1500" dirty="0">
                <a:solidFill>
                  <a:srgbClr val="222222"/>
                </a:solidFill>
                <a:latin typeface="Calibri"/>
              </a:rPr>
              <a:t> interna </a:t>
            </a:r>
            <a:r>
              <a:rPr sz="1500" dirty="0" err="1">
                <a:solidFill>
                  <a:srgbClr val="222222"/>
                </a:solidFill>
                <a:latin typeface="Calibri"/>
              </a:rPr>
              <a:t>pero</a:t>
            </a:r>
            <a:r>
              <a:rPr sz="1500" dirty="0">
                <a:solidFill>
                  <a:srgbClr val="222222"/>
                </a:solidFill>
                <a:latin typeface="Calibri"/>
              </a:rPr>
              <a:t> </a:t>
            </a:r>
            <a:r>
              <a:rPr sz="1500" dirty="0" err="1">
                <a:solidFill>
                  <a:srgbClr val="222222"/>
                </a:solidFill>
                <a:latin typeface="Calibri"/>
              </a:rPr>
              <a:t>fusiona</a:t>
            </a:r>
            <a:r>
              <a:rPr sz="1500" dirty="0">
                <a:solidFill>
                  <a:srgbClr val="222222"/>
                </a:solidFill>
                <a:latin typeface="Calibri"/>
              </a:rPr>
              <a:t> Adelie/Chinstrap.</a:t>
            </a:r>
          </a:p>
          <a:p>
            <a:pPr algn="l">
              <a:spcAft>
                <a:spcPts val="600"/>
              </a:spcAft>
            </a:pPr>
            <a:r>
              <a:rPr sz="1500" dirty="0">
                <a:solidFill>
                  <a:srgbClr val="222222"/>
                </a:solidFill>
                <a:latin typeface="Calibri"/>
              </a:rPr>
              <a:t>• K-Means es </a:t>
            </a:r>
            <a:r>
              <a:rPr sz="1500" dirty="0" err="1">
                <a:solidFill>
                  <a:srgbClr val="222222"/>
                </a:solidFill>
                <a:latin typeface="Calibri"/>
              </a:rPr>
              <a:t>muy</a:t>
            </a:r>
            <a:r>
              <a:rPr sz="1500" dirty="0">
                <a:solidFill>
                  <a:srgbClr val="222222"/>
                </a:solidFill>
                <a:latin typeface="Calibri"/>
              </a:rPr>
              <a:t> </a:t>
            </a:r>
            <a:r>
              <a:rPr sz="1500" dirty="0" err="1">
                <a:solidFill>
                  <a:srgbClr val="222222"/>
                </a:solidFill>
                <a:latin typeface="Calibri"/>
              </a:rPr>
              <a:t>competitivo</a:t>
            </a:r>
            <a:r>
              <a:rPr sz="1500" dirty="0">
                <a:solidFill>
                  <a:srgbClr val="222222"/>
                </a:solidFill>
                <a:latin typeface="Calibri"/>
              </a:rPr>
              <a:t> y </a:t>
            </a:r>
            <a:r>
              <a:rPr sz="1500" dirty="0" err="1">
                <a:solidFill>
                  <a:srgbClr val="222222"/>
                </a:solidFill>
                <a:latin typeface="Calibri"/>
              </a:rPr>
              <a:t>mucho</a:t>
            </a:r>
            <a:r>
              <a:rPr sz="1500" dirty="0">
                <a:solidFill>
                  <a:srgbClr val="222222"/>
                </a:solidFill>
                <a:latin typeface="Calibri"/>
              </a:rPr>
              <a:t> </a:t>
            </a:r>
            <a:r>
              <a:rPr sz="1500" dirty="0" err="1">
                <a:solidFill>
                  <a:srgbClr val="222222"/>
                </a:solidFill>
                <a:latin typeface="Calibri"/>
              </a:rPr>
              <a:t>más</a:t>
            </a:r>
            <a:r>
              <a:rPr sz="1500" dirty="0">
                <a:solidFill>
                  <a:srgbClr val="222222"/>
                </a:solidFill>
                <a:latin typeface="Calibri"/>
              </a:rPr>
              <a:t> </a:t>
            </a:r>
            <a:r>
              <a:rPr sz="1500" dirty="0" err="1">
                <a:solidFill>
                  <a:srgbClr val="222222"/>
                </a:solidFill>
                <a:latin typeface="Calibri"/>
              </a:rPr>
              <a:t>rápido</a:t>
            </a:r>
            <a:r>
              <a:rPr sz="1500" dirty="0">
                <a:solidFill>
                  <a:srgbClr val="222222"/>
                </a:solidFill>
                <a:latin typeface="Calibri"/>
              </a:rPr>
              <a:t>.</a:t>
            </a:r>
          </a:p>
        </p:txBody>
      </p:sp>
      <p:pic>
        <p:nvPicPr>
          <p:cNvPr id="8" name="Picture 7" descr="clusters_pc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0" y="1280160"/>
            <a:ext cx="6400800" cy="1491997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0B2E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45720"/>
            <a:ext cx="114300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Calibri"/>
              </a:rPr>
              <a:t>5. Conclusiones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1005840"/>
            <a:ext cx="114300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77B4"/>
                </a:solidFill>
                <a:latin typeface="Calibri"/>
              </a:rPr>
              <a:t>¿Qué funcionó mejor?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08760"/>
            <a:ext cx="109728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>
                <a:solidFill>
                  <a:srgbClr val="222222"/>
                </a:solidFill>
                <a:latin typeface="Calibri"/>
              </a:rPr>
              <a:t>• Agglomerative (ward) y K-Means recuperan la estructura biológica de las 3 especies.</a:t>
            </a:r>
          </a:p>
          <a:p>
            <a:pPr algn="l">
              <a:spcAft>
                <a:spcPts val="600"/>
              </a:spcAft>
            </a:pPr>
            <a:r>
              <a:rPr sz="1600">
                <a:solidFill>
                  <a:srgbClr val="222222"/>
                </a:solidFill>
                <a:latin typeface="Calibri"/>
              </a:rPr>
              <a:t>• DBSCAN no es óptimo: el dataset no tiene densidades muy distintas.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2926080"/>
            <a:ext cx="114300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77B4"/>
                </a:solidFill>
                <a:latin typeface="Calibri"/>
              </a:rPr>
              <a:t>Limitaciones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429000"/>
            <a:ext cx="109728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>
                <a:solidFill>
                  <a:srgbClr val="222222"/>
                </a:solidFill>
                <a:latin typeface="Calibri"/>
              </a:rPr>
              <a:t>• Solo 4 variables numéricas y dataset pequeño (342 filas tras limpieza).</a:t>
            </a:r>
          </a:p>
          <a:p>
            <a:pPr algn="l">
              <a:spcAft>
                <a:spcPts val="600"/>
              </a:spcAft>
            </a:pPr>
            <a:r>
              <a:rPr sz="1600">
                <a:solidFill>
                  <a:srgbClr val="222222"/>
                </a:solidFill>
                <a:latin typeface="Calibri"/>
              </a:rPr>
              <a:t>• DBSCAN es muy sensible al parámetro eps.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4572000"/>
            <a:ext cx="114300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77B4"/>
                </a:solidFill>
                <a:latin typeface="Calibri"/>
              </a:rPr>
              <a:t>Trabajo futuro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5074920"/>
            <a:ext cx="109728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dirty="0">
                <a:solidFill>
                  <a:srgbClr val="222222"/>
                </a:solidFill>
                <a:latin typeface="Calibri"/>
              </a:rPr>
              <a:t>• </a:t>
            </a:r>
            <a:r>
              <a:rPr sz="1600" dirty="0" err="1">
                <a:solidFill>
                  <a:srgbClr val="222222"/>
                </a:solidFill>
                <a:latin typeface="Calibri"/>
              </a:rPr>
              <a:t>Incluir</a:t>
            </a:r>
            <a:r>
              <a:rPr sz="1600" dirty="0">
                <a:solidFill>
                  <a:srgbClr val="222222"/>
                </a:solidFill>
                <a:latin typeface="Calibri"/>
              </a:rPr>
              <a:t> variables </a:t>
            </a:r>
            <a:r>
              <a:rPr sz="1600" dirty="0" err="1">
                <a:solidFill>
                  <a:srgbClr val="222222"/>
                </a:solidFill>
                <a:latin typeface="Calibri"/>
              </a:rPr>
              <a:t>categóricas</a:t>
            </a:r>
            <a:r>
              <a:rPr sz="1600" dirty="0">
                <a:solidFill>
                  <a:srgbClr val="222222"/>
                </a:solidFill>
                <a:latin typeface="Calibri"/>
              </a:rPr>
              <a:t> (sex, island) con encoding.</a:t>
            </a:r>
          </a:p>
          <a:p>
            <a:pPr algn="l">
              <a:spcAft>
                <a:spcPts val="600"/>
              </a:spcAft>
            </a:pPr>
            <a:r>
              <a:rPr sz="1600" dirty="0">
                <a:solidFill>
                  <a:srgbClr val="222222"/>
                </a:solidFill>
                <a:latin typeface="Calibri"/>
              </a:rPr>
              <a:t>• </a:t>
            </a:r>
            <a:r>
              <a:rPr sz="1600" dirty="0" err="1">
                <a:solidFill>
                  <a:srgbClr val="222222"/>
                </a:solidFill>
                <a:latin typeface="Calibri"/>
              </a:rPr>
              <a:t>Probar</a:t>
            </a:r>
            <a:r>
              <a:rPr sz="1600" dirty="0">
                <a:solidFill>
                  <a:srgbClr val="222222"/>
                </a:solidFill>
                <a:latin typeface="Calibri"/>
              </a:rPr>
              <a:t> Gaussian Mixture Models y </a:t>
            </a:r>
            <a:r>
              <a:rPr sz="1600" dirty="0" err="1">
                <a:solidFill>
                  <a:srgbClr val="222222"/>
                </a:solidFill>
                <a:latin typeface="Calibri"/>
              </a:rPr>
              <a:t>reducción</a:t>
            </a:r>
            <a:r>
              <a:rPr sz="1600" dirty="0">
                <a:solidFill>
                  <a:srgbClr val="222222"/>
                </a:solidFill>
                <a:latin typeface="Calibri"/>
              </a:rPr>
              <a:t> de </a:t>
            </a:r>
            <a:r>
              <a:rPr sz="1600" dirty="0" err="1">
                <a:solidFill>
                  <a:srgbClr val="222222"/>
                </a:solidFill>
                <a:latin typeface="Calibri"/>
              </a:rPr>
              <a:t>dimensionalidad</a:t>
            </a:r>
            <a:r>
              <a:rPr sz="1600" dirty="0">
                <a:solidFill>
                  <a:srgbClr val="222222"/>
                </a:solidFill>
                <a:latin typeface="Calibri"/>
              </a:rPr>
              <a:t> con UMAP/t-SNE.</a:t>
            </a:r>
          </a:p>
          <a:p>
            <a:pPr algn="l">
              <a:spcAft>
                <a:spcPts val="600"/>
              </a:spcAft>
            </a:pPr>
            <a:r>
              <a:rPr sz="1600" dirty="0">
                <a:solidFill>
                  <a:srgbClr val="222222"/>
                </a:solidFill>
                <a:latin typeface="Calibri"/>
              </a:rPr>
              <a:t>• Validar </a:t>
            </a:r>
            <a:r>
              <a:rPr sz="1600" dirty="0" err="1">
                <a:solidFill>
                  <a:srgbClr val="222222"/>
                </a:solidFill>
                <a:latin typeface="Calibri"/>
              </a:rPr>
              <a:t>estabilidad</a:t>
            </a:r>
            <a:r>
              <a:rPr sz="1600" dirty="0">
                <a:solidFill>
                  <a:srgbClr val="222222"/>
                </a:solidFill>
                <a:latin typeface="Calibri"/>
              </a:rPr>
              <a:t> de clusters con bootstrap.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300</TotalTime>
  <Words>564</Words>
  <Application>Microsoft Office PowerPoint</Application>
  <PresentationFormat>Widescreen</PresentationFormat>
  <Paragraphs>76</Paragraphs>
  <Slides>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Samuel Hiram</cp:lastModifiedBy>
  <cp:revision>2</cp:revision>
  <dcterms:created xsi:type="dcterms:W3CDTF">2013-01-27T09:14:16Z</dcterms:created>
  <dcterms:modified xsi:type="dcterms:W3CDTF">2026-05-28T22:32:24Z</dcterms:modified>
  <cp:category/>
</cp:coreProperties>
</file>